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BIM Sign Language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YOLOv11 and MediaPipe Hybrid Approach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657600" cy="0"/>
          </a:xfrm>
          <a:prstGeom prst="line">
            <a:avLst/>
          </a:prstGeom>
          <a:noFill/>
          <a:ln w="25400">
            <a:solidFill>
              <a:srgbClr val="0D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71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G  |  BICS 4340 Machine Learning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II, 2025/2026  |  Kulliyyah of ICT, IIUM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Amelia Ritahani binti Ismail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Zafri  |  Muhammad Aizam  |  Adam Fawwaz  |  Muhammad Iman Imtiyaz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82296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BICS 4340 Machine Learning  |  Group G  |  Semester II 2025/2026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74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4572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704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1005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13075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project objectives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920240"/>
            <a:ext cx="4572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305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19659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22677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Sign Language dataset overview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80360"/>
            <a:ext cx="4572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906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2926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32278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and model design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8404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40480"/>
            <a:ext cx="4572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050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" y="3886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" y="41879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 and evaluation procedure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9601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960120"/>
            <a:ext cx="4572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1704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85232" y="1005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85232" y="13075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and discussion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19202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920240"/>
            <a:ext cx="4572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1305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85232" y="19659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85232" y="22677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real-time application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28803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2880360"/>
            <a:ext cx="4572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0906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85232" y="2926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85232" y="32278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future work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82296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Problem Statement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BICS 4340 Machine Learning  |  Group G  |  Semester II 2025/2026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74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3474720" cy="3840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280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74320" y="2286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 &amp; Hard-of-Hearing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in Malaysia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(Dept. of Social Welfare)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2743200" cy="0"/>
          </a:xfrm>
          <a:prstGeom prst="line">
            <a:avLst/>
          </a:prstGeom>
          <a:noFill/>
          <a:ln w="12700">
            <a:solidFill>
              <a:srgbClr val="0D7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BIM sign classes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A-Z alphabet + 0, 1, 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0" y="914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1325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(Bahasa Isyarat Malaysia) is used daily by over 300,000 DHH Malaysians. Most hearing people cannot understand it, creating barriers in education, healthcare and daily life.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22402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practical, low-cost, camera-based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recognition tool exists today.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33375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webcam-based system that classifies 29 BIM hand signs using a YOLOv11 and MediaPipe hybrid, deployed as a Streamlit web app accessible from any browser.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82296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SDG Alignment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BICS 4340 Machine Learning  |  Group G  |  Semester II 2025/2026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74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943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502920" cy="7132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515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9601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pipeline that classifies 29 BIM classes from static images using multiple ML algorithms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5943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37360"/>
            <a:ext cx="502920" cy="7132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20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18288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baseline algorithms (SVM, Random Forest, KNN) against novel YOLOv11 and MLP models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06040"/>
            <a:ext cx="5943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06040"/>
            <a:ext cx="502920" cy="7132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7889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69748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hybrid soft-voting ensemble combining keypoint and image-based signals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474720"/>
            <a:ext cx="5943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74720"/>
            <a:ext cx="502920" cy="7132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657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356616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system as a real-time web application using Streamlit and WebRTC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868680"/>
            <a:ext cx="237744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1252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15270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DHH-to-healthcare communication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92240" y="2240280"/>
            <a:ext cx="237744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224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2624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2898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in learning environments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92240" y="3611880"/>
            <a:ext cx="237744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9224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92240" y="3995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4270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hearing/Deaf gap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82296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Sign Language (MSL) Image Dataset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BICS 4340 Machine Learning  |  Group G  |  Semester II 2025/2026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74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196596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960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9,586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1572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822960"/>
            <a:ext cx="196596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960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68880" y="1572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Classes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196596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960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1572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822960"/>
            <a:ext cx="196596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960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1572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per Class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Coverage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2651760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7066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15568" y="2651760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27066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56816" y="2651760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56816" y="27066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98064" y="2651760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98064" y="27066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39312" y="2651760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39312" y="27066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80560" y="2651760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27066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21808" y="2651760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1808" y="27066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63056" y="2651760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27066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004304" y="2651760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04304" y="27066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845552" y="2651760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45552" y="27066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3127248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1821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115568" y="3127248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15568" y="31821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956816" y="3127248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6816" y="31821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798064" y="3127248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98064" y="31821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39312" y="3127248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39312" y="31821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480560" y="3127248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80560" y="31821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321808" y="3127248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21808" y="31821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163056" y="3127248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63056" y="31821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004304" y="3127248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04304" y="31821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845552" y="3127248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45552" y="31821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74320" y="3602736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36576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1115568" y="3602736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15568" y="36576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956816" y="3602736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56816" y="36576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2798064" y="3602736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98064" y="36576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639312" y="3602736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39312" y="36576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480560" y="3602736"/>
            <a:ext cx="713232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80560" y="36576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5321808" y="3602736"/>
            <a:ext cx="713232" cy="34747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21808" y="36576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6163056" y="3602736"/>
            <a:ext cx="713232" cy="34747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63056" y="36576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004304" y="3602736"/>
            <a:ext cx="713232" cy="34747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004304" y="36576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274320" y="46177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Malaysian Sign Language (MSL) Image Dataset (Sawasan, 2023)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82296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Two-Branch Ensemble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BICS 4340 Machine Learning  |  Group G  |  Semester II 2025/2026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74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1645920" cy="7315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20240" y="2194560"/>
            <a:ext cx="548640" cy="0"/>
          </a:xfrm>
          <a:prstGeom prst="line">
            <a:avLst/>
          </a:prstGeom>
          <a:noFill/>
          <a:ln w="25400">
            <a:solidFill>
              <a:srgbClr val="0D7C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371600"/>
            <a:ext cx="0" cy="822960"/>
          </a:xfrm>
          <a:prstGeom prst="line">
            <a:avLst/>
          </a:prstGeom>
          <a:noFill/>
          <a:ln w="25400">
            <a:solidFill>
              <a:srgbClr val="0D7C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194560"/>
            <a:ext cx="0" cy="822960"/>
          </a:xfrm>
          <a:prstGeom prst="line">
            <a:avLst/>
          </a:prstGeom>
          <a:noFill/>
          <a:ln w="25400">
            <a:solidFill>
              <a:srgbClr val="0D7C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371600"/>
            <a:ext cx="365760" cy="0"/>
          </a:xfrm>
          <a:prstGeom prst="line">
            <a:avLst/>
          </a:prstGeom>
          <a:noFill/>
          <a:ln w="25400">
            <a:solidFill>
              <a:srgbClr val="0D7C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3017520"/>
            <a:ext cx="365760" cy="0"/>
          </a:xfrm>
          <a:prstGeom prst="line">
            <a:avLst/>
          </a:prstGeom>
          <a:noFill/>
          <a:ln w="25400">
            <a:solidFill>
              <a:srgbClr val="0D7C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868680"/>
            <a:ext cx="1828800" cy="6858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34640" y="8686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Landmarker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1572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landmarks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features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207008"/>
            <a:ext cx="457200" cy="0"/>
          </a:xfrm>
          <a:prstGeom prst="line">
            <a:avLst/>
          </a:prstGeom>
          <a:noFill/>
          <a:ln w="25400">
            <a:solidFill>
              <a:srgbClr val="0D7C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868680"/>
            <a:ext cx="155448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0640" y="8686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0" y="15727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hidden layers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63 -&gt; 256 -&gt; 128 -&gt; 64 -&gt; 29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75120" y="1207008"/>
            <a:ext cx="457200" cy="0"/>
          </a:xfrm>
          <a:prstGeom prst="line">
            <a:avLst/>
          </a:prstGeom>
          <a:noFill/>
          <a:ln w="25400">
            <a:solidFill>
              <a:srgbClr val="0D7C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1005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P_mlp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(29 probs)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34640" y="2743200"/>
            <a:ext cx="182880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834640" y="27432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YOLOv11n-cls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34640" y="34472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224x224 RGB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COCO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081528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P_yolo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(29 probs)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0" y="1188720"/>
            <a:ext cx="0" cy="822960"/>
          </a:xfrm>
          <a:prstGeom prst="line">
            <a:avLst/>
          </a:prstGeom>
          <a:noFill/>
          <a:ln w="25400">
            <a:solidFill>
              <a:srgbClr val="0A25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94960" y="3017520"/>
            <a:ext cx="1737360" cy="0"/>
          </a:xfrm>
          <a:prstGeom prst="line">
            <a:avLst/>
          </a:prstGeom>
          <a:noFill/>
          <a:ln w="25400">
            <a:solidFill>
              <a:srgbClr val="0A25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0" y="2011680"/>
            <a:ext cx="0" cy="1005840"/>
          </a:xfrm>
          <a:prstGeom prst="line">
            <a:avLst/>
          </a:prstGeom>
          <a:noFill/>
          <a:ln w="25400">
            <a:solidFill>
              <a:srgbClr val="0A25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1828800"/>
            <a:ext cx="1645920" cy="68580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132320" y="18288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Soft-Vote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+ 50%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778240" y="2167128"/>
            <a:ext cx="182880" cy="0"/>
          </a:xfrm>
          <a:prstGeom prst="line">
            <a:avLst/>
          </a:prstGeom>
          <a:noFill/>
          <a:ln w="25400">
            <a:solidFill>
              <a:srgbClr val="0A25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82296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 Landmark Extraction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BICS 4340 Machine Learning  |  Group G  |  Semester II 2025/2026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74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3657600" cy="3931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Hand Landmarks (3D)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325880"/>
            <a:ext cx="347472" cy="34747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3533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(0)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13533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keypoint (x, y, z)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828800"/>
            <a:ext cx="347472" cy="34747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562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tip (4)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18562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to wrist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331720"/>
            <a:ext cx="347472" cy="34747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23591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tip (8)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23591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invariant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834640"/>
            <a:ext cx="347472" cy="34747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2862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tip (12)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28620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points total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3337560"/>
            <a:ext cx="347472" cy="34747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3364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tip (16)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68880" y="33649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features per hand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840480"/>
            <a:ext cx="347472" cy="34747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" y="38679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Pinky tip (20)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68880" y="38679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06240" y="822960"/>
            <a:ext cx="4663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06240" y="822960"/>
            <a:ext cx="457200" cy="8229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1024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736592" y="8778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Hand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36592" y="117043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Tasks API detects up to 1 hand per image in batch mode. Confidence threshold: 0.3.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06240" y="1847088"/>
            <a:ext cx="4663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206240" y="1847088"/>
            <a:ext cx="457200" cy="8229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0" y="20482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736592" y="19019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21 Landmarks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36592" y="21945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landmark provides normalised (x, y, z) coordinates. Wrist is set as the origin point.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206240" y="2871216"/>
            <a:ext cx="4663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06240" y="2871216"/>
            <a:ext cx="457200" cy="8229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0" y="30723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736592" y="2926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Feature Vector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36592" y="321868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points x 3 coordinates = 63 features. StandardScaler normalises the distribution.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206240" y="3895344"/>
            <a:ext cx="4663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206240" y="3895344"/>
            <a:ext cx="457200" cy="8229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0" y="40965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736592" y="39502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Detection Fallback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736592" y="424281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hand is found, the MLP path is skipped. YOLOv11 handles the prediction alone.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82296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Algorithms Trained on MediaPipe Keypoints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BICS 4340 Machine Learning  |  Group G  |  Semester II 2025/2026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74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22960"/>
            <a:ext cx="2743200" cy="5943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68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 Kernel)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64008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08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920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C=1, gamma=scale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keypoint features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218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474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generalisation for high-dimensional feature spaces. Effective with relatively few training samples.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82296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822960"/>
            <a:ext cx="27432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868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1508760"/>
            <a:ext cx="64008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1508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91840" y="1920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estimators, max_depth=None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9184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keypoint features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3218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3474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trees. Naturally handles feature importance and non-linear boundaries without scaling.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82296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822960"/>
            <a:ext cx="2743200" cy="5943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868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(k=5)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0" y="1508760"/>
            <a:ext cx="64008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1508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0" y="1920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k=5, Euclidean distance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1792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keypoint features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17920" y="3218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3474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baseline. Tuned over k=1..20 using cross-validation. Sensitive to normalisation.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82296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Models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and Custom MLP (Not Covered in Class)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BICS 4340 Machine Learning  |  Group G  |  Semester II 2025/2026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74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22960"/>
            <a:ext cx="411480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229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(Keypoint Classifier)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444752"/>
            <a:ext cx="1005840" cy="38404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08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876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neurons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011680"/>
            <a:ext cx="1005840" cy="38404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756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Linear(256) + BN + ReLU + Dropout(0.3)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578608"/>
            <a:ext cx="1005840" cy="38404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42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08760" y="26426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Linear(128) + BN + ReLU + Dropout(0.3)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145536"/>
            <a:ext cx="1005840" cy="38404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09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32095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Linear(64) + ReLU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712464"/>
            <a:ext cx="1005840" cy="38404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764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08760" y="37764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Linear(29) + Softmax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4297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Optimiser: Adam (lr=0.001)  |  Epochs: 100  |  Early stop patience: 10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82296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822960"/>
            <a:ext cx="420624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8229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YOLOv11n-cls  (Novel Algorithm)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14447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14447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variant of Ultralytics YOLO11 classification backbone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20116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Weights: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2011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ImageNet/COCO pretrained — fine-tuned on BIM dataset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25786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25786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x 224 RGB images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31455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314553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flip, rotation, colour jitter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0600" y="37124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37124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50 epochs — early stop at epoch 14 (best: epoch 4)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0600" y="42793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4279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texture and colour cues invisible to keypoints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82296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Environment and Evaluation Protocol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BICS 4340 Machine Learning  |  Group G  |  Semester II 2025/2026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74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114800" cy="3931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3258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13258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MacBook Pro M1 Max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783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7830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10-core Apple M1 Max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2402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2402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32-core GPU (MPS backend)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697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26974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GB Unified Memory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1546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31546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PyTorch 2.x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6118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36118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(YOLO), scikit-learn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069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40690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Jupyter Notebook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82296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822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1298448"/>
            <a:ext cx="365760" cy="3657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3533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1298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1572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proportions preserved in both train and test sets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1984248"/>
            <a:ext cx="365760" cy="3657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19842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per model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2258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weighted Precision, Recall and F1-score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2670048"/>
            <a:ext cx="365760" cy="3657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7249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2670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57800" y="2944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visualised for all 29 classes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00600" y="3355848"/>
            <a:ext cx="365760" cy="3657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4107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3355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57800" y="36301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search: SVM kernel, C. KNN: k=1..20. MLP: dropout, optimiser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4041648"/>
            <a:ext cx="365760" cy="3657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4096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4041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epochs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57800" y="4315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50 epochs, early stop patience=10, best weights saved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82296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on 20% Test 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BICS 4340 Machine Learning  |  Group G  |  Semester II 2025/2026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74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(Keypoints)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YOLOv11n-cls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(MLP + YOLOv11)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611880"/>
            <a:ext cx="8229600" cy="1143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100%?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00507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MSL dataset was collected in a controlled studio setting with a plain background, consistent lighting and no clutter. Under these conditions, hand shapes for each class are visually distinct enough that all tested models achieve perfect separation. This is a recognised limitation of benchmark SLR datasets.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82296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Limitations and Hybrid Advantage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BICS 4340 Machine Learning  |  Group G  |  Semester II 2025/2026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74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778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3258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captures normalised geometric structure — somewhat invariant to image quality. YOLOv11 captures texture and colour. In real-world conditions, combining both signals is expected to reduce failure cases where one branch alone would fail.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8778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Dataset Limitation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3258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score 100% because images were captured against a plain white background with uniform lighting. Real-world performance would likely be lower with varied backgrounds and skin tones.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4114800" cy="41148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895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Convergence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3375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stopped at epoch 14 (best: epoch 4). This is expected when fine-tuning a pretrained model on a small, clean dataset. The pretrained features transfer well and only minor adaptation was needed.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34640"/>
            <a:ext cx="411480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8895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Signs Only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3375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handles static hand poses. BIM also includes dynamic signs requiring movement over time. Temporal modelling (LSTM, Transformer) would be needed to cover these.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82296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BICS 4340 Machine Learning  |  Group G  |  Semester II 2025/2026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74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Real-Time Webcam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35331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streamlit-webrtc streams frames in real time. Prediction label and confidence overlaid directly on the video feed.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Image Upload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35331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upload any JPG or PNG. Returns top-3 predictions with confidence bars and hand landmark overlay.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Hybrid Inference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2735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runs MediaPipe + MLP + YOLOv11 + soft-vote ensemble. Graceful fallback to YOLO-only when no hand detected.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Cached Models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2735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loaded once at startup with @st.cache_resource. No reload between requests.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run:  pip install -r requirements.txt  →  streamlit run app.py  →  open localhost:8501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BICS 4340 Machine Learning  |  Group G  |  Semester II 2025/2026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974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743200" cy="0"/>
          </a:xfrm>
          <a:prstGeom prst="line">
            <a:avLst/>
          </a:prstGeom>
          <a:noFill/>
          <a:ln w="25400">
            <a:solidFill>
              <a:srgbClr val="0D7C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320040" cy="3200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051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real-time BIM recognition system classifying 29 sign classes from webcam or image input.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320040" cy="3200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1737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three in-class baselines (SVM, Random Forest, KNN) and two novel models (MLP, YOLOv11n-cls).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423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soft-voting ensemble combining both signal types outperforms any single-branch approach in varied conditions.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108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achieved 100% accuracy on the MSL test set, reflecting the controlled nature of the benchmark dataset.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320040" cy="3200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794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Streamlit app with real-time WebRTC webcam support accessible without specialised hardware.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Diverse real-world dataset  |  Temporal modelling for dynamic signs  |  Cross-dataset 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82296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BICS 4340 Machine Learning  |  Group G  |  Semester II 2025/2026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74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Lugaresi, C., Tang, J., Nash, H., et al. (2019). MediaPipe: A framework for building perception pipelines. arXiv:1906.08172.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481328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Papastratis, I., Chatzikonstantinou, C., et al. (2021). Continuous sign language recognition through a context-aware GAN. Sensors, 21(7), 2437.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139696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Pigou, L., Dieleman, S., Kindermans, P. J., &amp; Schrauwen, B. (2015). Sign language recognition using CNNs. ECCV Workshop (pp. 572-578). Springer.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798064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Sawasan, P. (2023). Malaysian Sign Language (MSL) image dataset. Kaggle. https://www.kaggle.com/datasets/pradeepisawasan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345643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Ultralytics. (2024). YOLO11 documentation. https://docs.ultralytics.com/models/yolo11/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411480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Wan Mohd Zaki, W. M. D., &amp; Hussain, A. (2018). Recognition of Malaysian sign language using a web camera. JEET, 13(3), 1268-1278.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BIM Recognition System</dc:title>
  <dc:subject>PptxGenJS Presentation</dc:subject>
  <dc:creator>PptxGenJS</dc:creator>
  <cp:lastModifiedBy>PptxGenJS</cp:lastModifiedBy>
  <cp:revision>1</cp:revision>
  <dcterms:created xsi:type="dcterms:W3CDTF">2026-06-09T09:18:07Z</dcterms:created>
  <dcterms:modified xsi:type="dcterms:W3CDTF">2026-06-09T09:18:07Z</dcterms:modified>
</cp:coreProperties>
</file>